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4678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7871" y="1731634"/>
            <a:ext cx="4864894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850606" y="0"/>
            <a:ext cx="14288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71500" y="928688"/>
            <a:ext cx="4286250" cy="660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353" b="1" kern="0" spc="-2" dirty="0">
                <a:solidFill>
                  <a:srgbClr val="1A1A1A"/>
                </a:solidFill>
              </a:rPr>
              <a:t>FlyR</a:t>
            </a:r>
            <a:endParaRPr lang="en-US" sz="4353" dirty="0"/>
          </a:p>
        </p:txBody>
      </p:sp>
      <p:sp>
        <p:nvSpPr>
          <p:cNvPr id="6" name="Text 3"/>
          <p:cNvSpPr/>
          <p:nvPr/>
        </p:nvSpPr>
        <p:spPr>
          <a:xfrm>
            <a:off x="571500" y="1731634"/>
            <a:ext cx="4286250" cy="564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0033A0"/>
                </a:solidFill>
              </a:rPr>
              <a:t>Système de </a:t>
            </a:r>
            <a:r>
              <a:rPr lang="en-US" sz="2000" dirty="0" err="1">
                <a:solidFill>
                  <a:srgbClr val="0033A0"/>
                </a:solidFill>
              </a:rPr>
              <a:t>Réservation</a:t>
            </a:r>
            <a:r>
              <a:rPr lang="en-US" sz="2000" dirty="0">
                <a:solidFill>
                  <a:srgbClr val="0033A0"/>
                </a:solidFill>
              </a:rPr>
              <a:t> 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0033A0"/>
                </a:solidFill>
              </a:rPr>
              <a:t>de Vols Distribué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3147" y="4916394"/>
            <a:ext cx="3472740" cy="199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Chalabi Nada, Ivora Only, Younes </a:t>
            </a:r>
            <a:r>
              <a:rPr lang="en-US" sz="1050" dirty="0" err="1">
                <a:solidFill>
                  <a:srgbClr val="1A1A1A"/>
                </a:solidFill>
              </a:rPr>
              <a:t>Khtou</a:t>
            </a:r>
            <a:r>
              <a:rPr lang="en-US" sz="1050" dirty="0">
                <a:solidFill>
                  <a:srgbClr val="1A1A1A"/>
                </a:solidFill>
              </a:rPr>
              <a:t> et Boukhris Hamza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3147" y="4622307"/>
            <a:ext cx="4286250" cy="986232"/>
          </a:xfrm>
          <a:prstGeom prst="rect">
            <a:avLst/>
          </a:prstGeom>
          <a:noFill/>
          <a:ln/>
        </p:spPr>
        <p:txBody>
          <a:bodyPr wrap="square" lIns="0" tIns="0" rIns="0" bIns="680339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1A1A1A"/>
                </a:solidFill>
              </a:rPr>
              <a:t>Projet Systèmes Distribués
Année Académique 2025-2026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4857750" y="0"/>
            <a:ext cx="4286250" cy="5143500"/>
          </a:xfrm>
          <a:prstGeom prst="rect">
            <a:avLst/>
          </a:prstGeom>
          <a:solidFill>
            <a:srgbClr val="0033A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1F84111-EA51-B566-386D-743C3D97C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004072" y="6528"/>
            <a:ext cx="51435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090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1180505"/>
            <a:ext cx="9144000" cy="28575"/>
          </a:xfrm>
          <a:prstGeom prst="rect">
            <a:avLst/>
          </a:prstGeom>
          <a:solidFill>
            <a:srgbClr val="0033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71500" y="628650"/>
            <a:ext cx="85725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Cohérence vs. Disponibilité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1466255"/>
            <a:ext cx="385762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Le défi principal est d'assurer la cohérence transactionnelle (éviter les doubles réservations) dans un environnement distribué à forte concurrence.</a:t>
            </a:r>
            <a:endParaRPr lang="en-US" sz="1159" dirty="0"/>
          </a:p>
        </p:txBody>
      </p:sp>
      <p:sp>
        <p:nvSpPr>
          <p:cNvPr id="7" name="Text 4"/>
          <p:cNvSpPr/>
          <p:nvPr/>
        </p:nvSpPr>
        <p:spPr>
          <a:xfrm>
            <a:off x="571500" y="2686385"/>
            <a:ext cx="3857625" cy="74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Le système doit maintenir </a:t>
            </a:r>
            <a:r>
              <a:rPr lang="en-US" sz="1159" dirty="0" err="1">
                <a:solidFill>
                  <a:srgbClr val="1A1A1A"/>
                </a:solidFill>
              </a:rPr>
              <a:t>une</a:t>
            </a:r>
            <a:r>
              <a:rPr lang="en-US" sz="1159" dirty="0">
                <a:solidFill>
                  <a:srgbClr val="1A1A1A"/>
                </a:solidFill>
              </a:rPr>
              <a:t> haute </a:t>
            </a:r>
            <a:r>
              <a:rPr lang="en-US" sz="1159" dirty="0" err="1">
                <a:solidFill>
                  <a:srgbClr val="1A1A1A"/>
                </a:solidFill>
              </a:rPr>
              <a:t>disponibilité</a:t>
            </a:r>
            <a:r>
              <a:rPr lang="en-US" sz="1159" dirty="0">
                <a:solidFill>
                  <a:srgbClr val="1A1A1A"/>
                </a:solidFill>
              </a:rPr>
              <a:t> et </a:t>
            </a:r>
            <a:r>
              <a:rPr lang="en-US" sz="1159" dirty="0" err="1">
                <a:solidFill>
                  <a:srgbClr val="1A1A1A"/>
                </a:solidFill>
              </a:rPr>
              <a:t>une</a:t>
            </a:r>
            <a:r>
              <a:rPr lang="en-US" sz="1159" dirty="0">
                <a:solidFill>
                  <a:srgbClr val="1A1A1A"/>
                </a:solidFill>
              </a:rPr>
              <a:t> </a:t>
            </a:r>
            <a:r>
              <a:rPr lang="en-US" sz="1159" dirty="0" err="1">
                <a:solidFill>
                  <a:srgbClr val="1A1A1A"/>
                </a:solidFill>
              </a:rPr>
              <a:t>réactivité</a:t>
            </a:r>
            <a:r>
              <a:rPr lang="en-US" sz="1159" dirty="0">
                <a:solidFill>
                  <a:srgbClr val="1A1A1A"/>
                </a:solidFill>
              </a:rPr>
              <a:t> pour la recherche et l'interface utilisateur, tout en garantissant l'intégrité des données.</a:t>
            </a:r>
            <a:endParaRPr lang="en-US" sz="1159" dirty="0"/>
          </a:p>
        </p:txBody>
      </p:sp>
      <p:sp>
        <p:nvSpPr>
          <p:cNvPr id="8" name="Text 5"/>
          <p:cNvSpPr/>
          <p:nvPr/>
        </p:nvSpPr>
        <p:spPr>
          <a:xfrm>
            <a:off x="785813" y="4049390"/>
            <a:ext cx="3643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A0"/>
                </a:solidFill>
              </a:rPr>
              <a:t>Problèmes Clés :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85813" y="4283348"/>
            <a:ext cx="3643313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Concurrence, Cohérence des données, Réactivité en temps réel.</a:t>
            </a:r>
            <a:endParaRPr lang="en-US" sz="109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1466255"/>
            <a:ext cx="3571875" cy="3214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722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Stratégie Multi-Protocole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551980"/>
            <a:ext cx="7143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FlyR utilise une architecture hybride pour allouer chaque tâche au protocole le plus adapté, optimisant ainsi la performance et la fiabilité du système distribué.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8644" y="2430661"/>
            <a:ext cx="1117718" cy="351830"/>
          </a:xfrm>
          <a:prstGeom prst="rect">
            <a:avLst/>
          </a:prstGeom>
          <a:solidFill>
            <a:srgbClr val="0033A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78644" y="2430661"/>
            <a:ext cx="1117718" cy="351830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F2F2F2"/>
                </a:solidFill>
              </a:rPr>
              <a:t>Protocole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1695580" y="2430661"/>
            <a:ext cx="2608250" cy="351830"/>
          </a:xfrm>
          <a:prstGeom prst="rect">
            <a:avLst/>
          </a:prstGeom>
          <a:solidFill>
            <a:srgbClr val="0033A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1695580" y="2430661"/>
            <a:ext cx="2608250" cy="351830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F2F2F2"/>
                </a:solidFill>
              </a:rPr>
              <a:t>Fonction Principale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4303300" y="2430661"/>
            <a:ext cx="4262056" cy="351830"/>
          </a:xfrm>
          <a:prstGeom prst="rect">
            <a:avLst/>
          </a:prstGeom>
          <a:solidFill>
            <a:srgbClr val="0033A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303300" y="2430661"/>
            <a:ext cx="4262056" cy="351830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F2F2F2"/>
                </a:solidFill>
              </a:rPr>
              <a:t>Bénéfice Clé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78644" y="2768203"/>
            <a:ext cx="1116155" cy="337179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9381E"/>
                </a:solidFill>
              </a:rPr>
              <a:t>REST (JAX-RS)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1694799" y="2768203"/>
            <a:ext cx="2608501" cy="337179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Opérations de Lecture (Search)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303300" y="2768203"/>
            <a:ext cx="4262056" cy="337179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Haute scalabilité et faible latence pour les requêtes fréquentes.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78644" y="3105383"/>
            <a:ext cx="1116155" cy="517196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9381E"/>
                </a:solidFill>
              </a:rPr>
              <a:t>SOAP (JAX-WS)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1694799" y="3105383"/>
            <a:ext cx="2608501" cy="517196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Opérations Transactionnelles (Book/Cancel)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303300" y="3105383"/>
            <a:ext cx="4262056" cy="517196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Sécurité et intégrité via transactions pour les changements d'état critiques.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578644" y="3622579"/>
            <a:ext cx="1116155" cy="337179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9381E"/>
                </a:solidFill>
              </a:rPr>
              <a:t>RMI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1694799" y="3622579"/>
            <a:ext cx="2608501" cy="337179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Communication Interne Serveur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303300" y="3622579"/>
            <a:ext cx="4262056" cy="337179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Haute performance binaire et isolation entre les services backend.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78644" y="3959758"/>
            <a:ext cx="1116155" cy="337179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9381E"/>
                </a:solidFill>
              </a:rPr>
              <a:t>Sockets TCP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1694799" y="3959758"/>
            <a:ext cx="2608501" cy="337179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Notifications Temps Réel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4303300" y="3959758"/>
            <a:ext cx="4262056" cy="337179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Push instantané pour la mise à jour de la concurrence.</a:t>
            </a:r>
            <a:endParaRPr lang="en-US" sz="942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85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1357313"/>
            <a:ext cx="9144000" cy="28575"/>
          </a:xfrm>
          <a:prstGeom prst="rect">
            <a:avLst/>
          </a:prstGeom>
          <a:solidFill>
            <a:srgbClr val="0033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71500" y="864394"/>
            <a:ext cx="5329712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-1" dirty="0">
                <a:solidFill>
                  <a:srgbClr val="1A1A1A"/>
                </a:solidFill>
              </a:rPr>
              <a:t>Intégrité des Données Relationnelles</a:t>
            </a:r>
            <a:endParaRPr lang="en-US" sz="1808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25" y="428625"/>
            <a:ext cx="1285875" cy="857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1714500"/>
            <a:ext cx="4277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La base de données MySQL est la source unique de vérité. En encapsulant les opérations critiques dans des transactions, le système garantit l'atomicité et évite les mises à jour partielles.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71500" y="2614613"/>
            <a:ext cx="4277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Une gestion stricte des états est appliquée via des indicateurs de statut :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71500" y="3286125"/>
            <a:ext cx="751768" cy="18395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571500" y="3286125"/>
            <a:ext cx="751768" cy="183952"/>
          </a:xfrm>
          <a:prstGeom prst="rect">
            <a:avLst/>
          </a:prstGeom>
          <a:noFill/>
          <a:ln/>
        </p:spPr>
        <p:txBody>
          <a:bodyPr wrap="none" lIns="85090" tIns="34036" rIns="8509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2F2F2"/>
                </a:solidFill>
              </a:rPr>
              <a:t>Confirmé</a:t>
            </a:r>
            <a:endParaRPr lang="en-US" sz="784" dirty="0"/>
          </a:p>
        </p:txBody>
      </p:sp>
      <p:sp>
        <p:nvSpPr>
          <p:cNvPr id="11" name="Shape 7"/>
          <p:cNvSpPr/>
          <p:nvPr/>
        </p:nvSpPr>
        <p:spPr>
          <a:xfrm>
            <a:off x="1424425" y="3286125"/>
            <a:ext cx="622595" cy="18395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1424425" y="3286125"/>
            <a:ext cx="622595" cy="183952"/>
          </a:xfrm>
          <a:prstGeom prst="rect">
            <a:avLst/>
          </a:prstGeom>
          <a:noFill/>
          <a:ln/>
        </p:spPr>
        <p:txBody>
          <a:bodyPr wrap="none" lIns="85090" tIns="34036" rIns="8509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2F2F2"/>
                </a:solidFill>
              </a:rPr>
              <a:t>Annulé</a:t>
            </a:r>
            <a:endParaRPr lang="en-US" sz="784" dirty="0"/>
          </a:p>
        </p:txBody>
      </p:sp>
      <p:sp>
        <p:nvSpPr>
          <p:cNvPr id="13" name="Shape 9"/>
          <p:cNvSpPr/>
          <p:nvPr/>
        </p:nvSpPr>
        <p:spPr>
          <a:xfrm>
            <a:off x="2148176" y="3286125"/>
            <a:ext cx="468195" cy="18395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2148176" y="3286125"/>
            <a:ext cx="468195" cy="183952"/>
          </a:xfrm>
          <a:prstGeom prst="rect">
            <a:avLst/>
          </a:prstGeom>
          <a:noFill/>
          <a:ln/>
        </p:spPr>
        <p:txBody>
          <a:bodyPr wrap="none" lIns="85090" tIns="34036" rIns="8509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2F2F2"/>
                </a:solidFill>
              </a:rPr>
              <a:t>Libre</a:t>
            </a:r>
            <a:endParaRPr lang="en-US" sz="784" dirty="0"/>
          </a:p>
        </p:txBody>
      </p:sp>
      <p:sp>
        <p:nvSpPr>
          <p:cNvPr id="15" name="Shape 11"/>
          <p:cNvSpPr/>
          <p:nvPr/>
        </p:nvSpPr>
        <p:spPr>
          <a:xfrm>
            <a:off x="2717527" y="3286125"/>
            <a:ext cx="623069" cy="18395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2717527" y="3286125"/>
            <a:ext cx="623069" cy="183952"/>
          </a:xfrm>
          <a:prstGeom prst="rect">
            <a:avLst/>
          </a:prstGeom>
          <a:noFill/>
          <a:ln/>
        </p:spPr>
        <p:txBody>
          <a:bodyPr wrap="none" lIns="85090" tIns="34036" rIns="8509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2F2F2"/>
                </a:solidFill>
              </a:rPr>
              <a:t>Réservé</a:t>
            </a:r>
            <a:endParaRPr lang="en-US" sz="784" dirty="0"/>
          </a:p>
        </p:txBody>
      </p:sp>
      <p:sp>
        <p:nvSpPr>
          <p:cNvPr id="17" name="Text 13"/>
          <p:cNvSpPr/>
          <p:nvPr/>
        </p:nvSpPr>
        <p:spPr>
          <a:xfrm>
            <a:off x="571500" y="3684389"/>
            <a:ext cx="4277683" cy="60721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i="1" dirty="0">
                <a:solidFill>
                  <a:srgbClr val="1A1A1A"/>
                </a:solidFill>
              </a:rPr>
              <a:t>"L'entité réservation est le noyau du système, liant clients, vols et sièges avec une intégrité référentielle totale."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720721" y="1714500"/>
            <a:ext cx="285177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9381E"/>
                </a:solidFill>
              </a:rPr>
              <a:t>Entités Clés</a:t>
            </a:r>
            <a:endParaRPr lang="en-US" sz="987" dirty="0"/>
          </a:p>
        </p:txBody>
      </p:sp>
      <p:sp>
        <p:nvSpPr>
          <p:cNvPr id="19" name="Text 15"/>
          <p:cNvSpPr/>
          <p:nvPr/>
        </p:nvSpPr>
        <p:spPr>
          <a:xfrm>
            <a:off x="5720721" y="2123480"/>
            <a:ext cx="28517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A0"/>
                </a:solidFill>
              </a:rPr>
              <a:t>Avion</a:t>
            </a:r>
            <a:endParaRPr lang="en-US" sz="1193" dirty="0"/>
          </a:p>
        </p:txBody>
      </p:sp>
      <p:sp>
        <p:nvSpPr>
          <p:cNvPr id="20" name="Text 16"/>
          <p:cNvSpPr/>
          <p:nvPr/>
        </p:nvSpPr>
        <p:spPr>
          <a:xfrm>
            <a:off x="5720721" y="2464594"/>
            <a:ext cx="28517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A0"/>
                </a:solidFill>
              </a:rPr>
              <a:t>Vol</a:t>
            </a:r>
            <a:endParaRPr lang="en-US" sz="1193" dirty="0"/>
          </a:p>
        </p:txBody>
      </p:sp>
      <p:sp>
        <p:nvSpPr>
          <p:cNvPr id="21" name="Text 17"/>
          <p:cNvSpPr/>
          <p:nvPr/>
        </p:nvSpPr>
        <p:spPr>
          <a:xfrm>
            <a:off x="5720721" y="2805708"/>
            <a:ext cx="28517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A0"/>
                </a:solidFill>
              </a:rPr>
              <a:t>Siège</a:t>
            </a:r>
            <a:endParaRPr lang="en-US" sz="1193" dirty="0"/>
          </a:p>
        </p:txBody>
      </p:sp>
      <p:sp>
        <p:nvSpPr>
          <p:cNvPr id="22" name="Text 18"/>
          <p:cNvSpPr/>
          <p:nvPr/>
        </p:nvSpPr>
        <p:spPr>
          <a:xfrm>
            <a:off x="5720721" y="3146822"/>
            <a:ext cx="28517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A0"/>
                </a:solidFill>
              </a:rPr>
              <a:t>Client</a:t>
            </a:r>
            <a:endParaRPr lang="en-US" sz="1193" dirty="0"/>
          </a:p>
        </p:txBody>
      </p:sp>
      <p:sp>
        <p:nvSpPr>
          <p:cNvPr id="23" name="Text 19"/>
          <p:cNvSpPr/>
          <p:nvPr/>
        </p:nvSpPr>
        <p:spPr>
          <a:xfrm>
            <a:off x="5720721" y="3487936"/>
            <a:ext cx="28517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A0"/>
                </a:solidFill>
              </a:rPr>
              <a:t>Réservation</a:t>
            </a:r>
            <a:endParaRPr lang="en-US" sz="1193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322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930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1278731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71500" y="785813"/>
            <a:ext cx="85725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-1" dirty="0">
                <a:solidFill>
                  <a:srgbClr val="1A1A1A"/>
                </a:solidFill>
              </a:rPr>
              <a:t>Architecture Client : MVVM &amp; DI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571500" y="1421606"/>
            <a:ext cx="4286250" cy="23395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A0"/>
                </a:solidFill>
              </a:rPr>
              <a:t>Pattern MVVM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1727002"/>
            <a:ext cx="42862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Séparation stricte de la Vue et de la Logique (ViewModel). Garantit une interface réactive où la vue se met à jour automatiquement selon l'état du ViewModel.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522748"/>
            <a:ext cx="4286250" cy="23395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A0"/>
                </a:solidFill>
              </a:rPr>
              <a:t>Injection de Dépendances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2828144"/>
            <a:ext cx="42862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Conteneur IoC maison pour simplifier la gestion des services réseau et améliorer la testabilité. Permet un remplacement facile des implémentations de services.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3623890"/>
            <a:ext cx="4286250" cy="23395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33A0"/>
                </a:solidFill>
              </a:rPr>
              <a:t>UI Réactive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571500" y="3929286"/>
            <a:ext cx="42862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Utilisation des patterns Property et RelayCommand pour un data binding robuste, assurant la fluidité de l'interface Swing lors des appels réseau.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71500" y="4725033"/>
            <a:ext cx="4286250" cy="492919"/>
          </a:xfrm>
          <a:prstGeom prst="rect">
            <a:avLst/>
          </a:prstGeom>
          <a:noFill/>
          <a:ln/>
        </p:spPr>
        <p:txBody>
          <a:bodyPr wrap="square" lIns="0" tIns="85090" rIns="0" bIns="340233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33A0"/>
                </a:solidFill>
              </a:rPr>
              <a:t>Technologie : Java Swing + Framework IoC Personnalisé</a:t>
            </a:r>
            <a:endParaRPr lang="en-US" sz="683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071F79-03E7-8708-0771-DFF9E3539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375" y="906809"/>
            <a:ext cx="4027625" cy="4027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4233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1409105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71500" y="857250"/>
            <a:ext cx="85725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Optimisation des Lectures Fréquentes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1837730"/>
            <a:ext cx="3786188" cy="36968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9381E"/>
                </a:solidFill>
              </a:rPr>
              <a:t>Implémentation Technique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350294"/>
            <a:ext cx="37861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FlyR utilise des services REST basés sur JAX-RS pour gérer les charges de lecture importantes. Les payloads JSON/XML légers minimisent la latence réseau.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146041"/>
            <a:ext cx="3786188" cy="17502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Architecture Stateless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71500" y="3428219"/>
            <a:ext cx="3786188" cy="17502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Pool de Connexions DB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3710397"/>
            <a:ext cx="3786188" cy="17502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Réduction du Coût JDBC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786313" y="1837730"/>
            <a:ext cx="3786188" cy="36968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9381E"/>
                </a:solidFill>
              </a:rPr>
              <a:t>Impact Utilisateur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786313" y="2350294"/>
            <a:ext cx="37861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L'efficacité de la couche REST garantit une expérience fluide. La recherche de vols et l'historique sont accessibles instantanément, même sous forte charge.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786313" y="3146041"/>
            <a:ext cx="37861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33A0"/>
                </a:solidFill>
              </a:rPr>
              <a:t>"L'approche REST permet à FlyR de supporter des milliers de requêtes de recherche simultanées sans compromis."</a:t>
            </a:r>
            <a:endParaRPr lang="en-US" sz="88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090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1180505"/>
            <a:ext cx="9144000" cy="28575"/>
          </a:xfrm>
          <a:prstGeom prst="rect">
            <a:avLst/>
          </a:prstGeom>
          <a:solidFill>
            <a:srgbClr val="0033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71500" y="628650"/>
            <a:ext cx="85725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Transactions Critiques via SOAP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1466255"/>
            <a:ext cx="3636169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Le protocole SOAP (JAX-WS) gère les actions qui modifient l'état du système, garantissant la sécurité et l'intégrité des opérations sensibles.</a:t>
            </a:r>
            <a:endParaRPr lang="en-US" sz="1159" dirty="0"/>
          </a:p>
        </p:txBody>
      </p:sp>
      <p:sp>
        <p:nvSpPr>
          <p:cNvPr id="7" name="Text 4"/>
          <p:cNvSpPr/>
          <p:nvPr/>
        </p:nvSpPr>
        <p:spPr>
          <a:xfrm>
            <a:off x="571500" y="2392068"/>
            <a:ext cx="3636169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Chaque appel SOAP est atomique et vérifie les conditions métier avant de valider les changements dans la base de données.</a:t>
            </a:r>
            <a:endParaRPr lang="en-US" sz="1159" dirty="0"/>
          </a:p>
        </p:txBody>
      </p:sp>
      <p:sp>
        <p:nvSpPr>
          <p:cNvPr id="8" name="Text 5"/>
          <p:cNvSpPr/>
          <p:nvPr/>
        </p:nvSpPr>
        <p:spPr>
          <a:xfrm>
            <a:off x="4936331" y="1466255"/>
            <a:ext cx="36361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33A0"/>
                </a:solidFill>
              </a:rPr>
              <a:t>Opérations Clés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936331" y="1718072"/>
            <a:ext cx="36361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Réservation de siège (bookSeat), annulation et modification de réservation.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936331" y="2246709"/>
            <a:ext cx="36361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33A0"/>
                </a:solidFill>
              </a:rPr>
              <a:t>Gestion d'Erreurs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936331" y="2498527"/>
            <a:ext cx="36361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Utilisation de SOAP Faults typés (ex: SEAT_ALREADY_RESERVED) pour un retour structuré.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936331" y="3027164"/>
            <a:ext cx="36361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33A0"/>
                </a:solidFill>
              </a:rPr>
              <a:t>Sérialisation JAXB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936331" y="3278981"/>
            <a:ext cx="36361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Précision garantie pour les types complexes comme LocalDate et LocalDateTime.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71500" y="4645223"/>
            <a:ext cx="8572500" cy="498277"/>
          </a:xfrm>
          <a:prstGeom prst="rect">
            <a:avLst/>
          </a:prstGeom>
          <a:noFill/>
          <a:ln/>
        </p:spPr>
        <p:txBody>
          <a:bodyPr wrap="square" lIns="0" tIns="204089" rIns="0" bIns="204089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9381E"/>
                </a:solidFill>
              </a:rPr>
              <a:t>Protocole : JAX-WS / SOAP 1.2</a:t>
            </a:r>
            <a:endParaRPr lang="en-US" sz="784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090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1180505"/>
            <a:ext cx="9144000" cy="28575"/>
          </a:xfrm>
          <a:prstGeom prst="rect">
            <a:avLst/>
          </a:prstGeom>
          <a:solidFill>
            <a:srgbClr val="0033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71500" y="628650"/>
            <a:ext cx="85725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RMI : Communication Interne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1609130"/>
            <a:ext cx="370760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0033A0"/>
                </a:solidFill>
              </a:rPr>
              <a:t>Maillage de Services Interne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057400"/>
            <a:ext cx="37076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RMI est utilisé exclusivement pour la communication entre les services backend, centralisant les fonctions critiques telles que la gestion des vols et la synchronisation des réservations.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3186113"/>
            <a:ext cx="37076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Cette approche permet de partager la logique métier complexe entre les composants du serveur avec un minimum de latence.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864894" y="1609130"/>
            <a:ext cx="370760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0033A0"/>
                </a:solidFill>
              </a:rPr>
              <a:t>Performance &amp; Sécurité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864894" y="2057400"/>
            <a:ext cx="3707606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ISOLATION : Les points de terminaison RMI sont restreints au réseau interne, réduisant la surface d'attaque.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864894" y="2725341"/>
            <a:ext cx="3707606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EFFICACITÉ BINAIRE : Utilise une communication binaire haute performance pour optimiser les flux de données Java.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4864894" y="3393281"/>
            <a:ext cx="3707606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CENTRALISATION : Encapsule les règles métier complexes, gardant le client final léger et simple.</a:t>
            </a:r>
            <a:endParaRPr lang="en-US" sz="88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4376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1409105"/>
            <a:ext cx="9144000" cy="28575"/>
          </a:xfrm>
          <a:prstGeom prst="rect">
            <a:avLst/>
          </a:prstGeom>
          <a:solidFill>
            <a:srgbClr val="D938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71500" y="857250"/>
            <a:ext cx="85725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Notifications Temps Réel via Sockets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1837730"/>
            <a:ext cx="37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0033A0"/>
                </a:solidFill>
              </a:rPr>
              <a:t>Push vs. Polling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286000"/>
            <a:ext cx="3714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Pour offrir une expérience interactive, FlyR intègre des Sockets TCP dédiés aux notifications push. Ce mécanisme élimine le besoin de polling côté client.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3186113"/>
            <a:ext cx="3714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Le serveur diffuse immédiatement les mises à jour à tous les clients connectés lors d'événements significatifs, comme une confirmation de réservation ou un changement de disponibilité.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857750" y="1837730"/>
            <a:ext cx="37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0033A0"/>
                </a:solidFill>
              </a:rPr>
              <a:t>Bénéfices Système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857750" y="2286000"/>
            <a:ext cx="3714750" cy="35004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Feedback Instantané : Confirmation immédiate du succès ou de l'échec transactionnel.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857750" y="2814638"/>
            <a:ext cx="3714750" cy="35004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Faible Latence : La communication TCP directe assure un délai minimal de mise à jour.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4857750" y="3343275"/>
            <a:ext cx="3714750" cy="52506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Réduction des Conflits : La visibilité en temps réel de l'inventaire limite les échecs de transaction.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857750" y="4154091"/>
            <a:ext cx="3714750" cy="61436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"Les Sockets garantissent la réactivité nécessaire aux plateformes de réservation critiques."</a:t>
            </a:r>
            <a:endParaRPr lang="en-US" sz="987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92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501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1121569"/>
            <a:ext cx="9144000" cy="28575"/>
          </a:xfrm>
          <a:prstGeom prst="rect">
            <a:avLst/>
          </a:prstGeom>
          <a:solidFill>
            <a:srgbClr val="0033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71500" y="628650"/>
            <a:ext cx="85725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-1" dirty="0">
                <a:solidFill>
                  <a:srgbClr val="1A1A1A"/>
                </a:solidFill>
              </a:rPr>
              <a:t>Flux Système de Bout en Bout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742950" y="1407319"/>
            <a:ext cx="32575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A0"/>
                </a:solidFill>
              </a:rPr>
              <a:t>1. Phase de Découverte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742950" y="1637705"/>
            <a:ext cx="3257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L'utilisateur recherche des vols et récupère les données de disponibilité en temps réel.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742950" y="2016323"/>
            <a:ext cx="691158" cy="130373"/>
          </a:xfrm>
          <a:prstGeom prst="rect">
            <a:avLst/>
          </a:prstGeom>
          <a:solidFill>
            <a:srgbClr val="D938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742950" y="2016323"/>
            <a:ext cx="691158" cy="130373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2F2F2"/>
                </a:solidFill>
              </a:rPr>
              <a:t>REST / JAX-RS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742950" y="2368153"/>
            <a:ext cx="32575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A0"/>
                </a:solidFill>
              </a:rPr>
              <a:t>2. Phase Transactionnelle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742950" y="2598539"/>
            <a:ext cx="3257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La demande de réservation déclenche une transaction DB et la validation des règles métier.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742950" y="2977158"/>
            <a:ext cx="749452" cy="130373"/>
          </a:xfrm>
          <a:prstGeom prst="rect">
            <a:avLst/>
          </a:prstGeom>
          <a:solidFill>
            <a:srgbClr val="D938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742950" y="2977158"/>
            <a:ext cx="749452" cy="130373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2F2F2"/>
                </a:solidFill>
              </a:rPr>
              <a:t>SOAP / JAX-WS</a:t>
            </a:r>
            <a:endParaRPr lang="en-US" sz="584" dirty="0"/>
          </a:p>
        </p:txBody>
      </p:sp>
      <p:sp>
        <p:nvSpPr>
          <p:cNvPr id="14" name="Text 11"/>
          <p:cNvSpPr/>
          <p:nvPr/>
        </p:nvSpPr>
        <p:spPr>
          <a:xfrm>
            <a:off x="742950" y="3328988"/>
            <a:ext cx="32575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A0"/>
                </a:solidFill>
              </a:rPr>
              <a:t>3. Synchronisation Interne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742950" y="3559373"/>
            <a:ext cx="3257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Les services backend synchronisent l'état et mettent à jour l'inventaire sur le cluster.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742950" y="3937992"/>
            <a:ext cx="522526" cy="130373"/>
          </a:xfrm>
          <a:prstGeom prst="rect">
            <a:avLst/>
          </a:prstGeom>
          <a:solidFill>
            <a:srgbClr val="D938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742950" y="3937992"/>
            <a:ext cx="522526" cy="130373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2F2F2"/>
                </a:solidFill>
              </a:rPr>
              <a:t>Java RMI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742950" y="4289822"/>
            <a:ext cx="32575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A0"/>
                </a:solidFill>
              </a:rPr>
              <a:t>4. Phase de Notification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742950" y="4520208"/>
            <a:ext cx="3257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Le serveur pousse les alertes de confirmation ou de conflit directement vers l'interface client.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742950" y="4898827"/>
            <a:ext cx="674861" cy="130373"/>
          </a:xfrm>
          <a:prstGeom prst="rect">
            <a:avLst/>
          </a:prstGeom>
          <a:solidFill>
            <a:srgbClr val="D938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742950" y="4898827"/>
            <a:ext cx="674861" cy="130373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2F2F2"/>
                </a:solidFill>
              </a:rPr>
              <a:t>Sockets TCP</a:t>
            </a:r>
            <a:endParaRPr lang="en-US" sz="584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407319"/>
            <a:ext cx="4286250" cy="3214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7374" y="1850924"/>
            <a:ext cx="9144000" cy="12376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-7374" y="3060004"/>
            <a:ext cx="914400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27257" y="2434411"/>
            <a:ext cx="8572499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Démonstration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0" y="1351955"/>
            <a:ext cx="7429500" cy="3791545"/>
          </a:xfrm>
          <a:prstGeom prst="rect">
            <a:avLst/>
          </a:prstGeom>
          <a:noFill/>
          <a:ln/>
        </p:spPr>
        <p:txBody>
          <a:bodyPr wrap="square" lIns="0" tIns="0" rIns="680339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834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857D59-65E3-85F6-269F-210D6A111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940" y="0"/>
            <a:ext cx="5567990" cy="5143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75D260-CD11-45A3-79D3-5E96D3FD76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532"/>
          <a:stretch>
            <a:fillRect/>
          </a:stretch>
        </p:blipFill>
        <p:spPr>
          <a:xfrm>
            <a:off x="7827217" y="1916205"/>
            <a:ext cx="1134837" cy="1172374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726441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5697866" y="0"/>
            <a:ext cx="28575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71500" y="871538"/>
            <a:ext cx="514350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kern="0" spc="-2" dirty="0">
                <a:solidFill>
                  <a:srgbClr val="1A1A1A"/>
                </a:solidFill>
              </a:rPr>
              <a:t>Une Base Solide pour les Services Distribués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983060"/>
            <a:ext cx="471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Fiabilité Prouvée : Équilibre entre performance et cohérence via une architecture multi-protocole.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2525985"/>
            <a:ext cx="471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Architecture Moderne : MVVM et Injection de Dépendances pour une expérience client maintenable.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571500" y="3068910"/>
            <a:ext cx="471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Évolutivité Future : Conception modulaire permettant l'ajout facile de nouveaux services.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571500" y="4214813"/>
            <a:ext cx="3571875" cy="928688"/>
          </a:xfrm>
          <a:prstGeom prst="rect">
            <a:avLst/>
          </a:prstGeom>
          <a:noFill/>
          <a:ln/>
        </p:spPr>
        <p:txBody>
          <a:bodyPr wrap="square" lIns="0" tIns="0" rIns="0" bIns="340233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33A0"/>
                </a:solidFill>
              </a:rPr>
              <a:t>FlyR démontre que les systèmes distribués peuvent allier haute performance et cohérence stricte grâce à une ingénierie logicielle rigoureuse.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0033A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B86B6B-35A8-433A-0D39-88EFDA9C0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6375" y="622010"/>
            <a:ext cx="5529125" cy="46651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968</Words>
  <Application>Microsoft Office PowerPoint</Application>
  <PresentationFormat>On-screen Show (16:9)</PresentationFormat>
  <Paragraphs>116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Hamza Boukhris</cp:lastModifiedBy>
  <cp:revision>2</cp:revision>
  <dcterms:created xsi:type="dcterms:W3CDTF">2026-01-22T22:09:36Z</dcterms:created>
  <dcterms:modified xsi:type="dcterms:W3CDTF">2026-01-22T22:32:04Z</dcterms:modified>
</cp:coreProperties>
</file>